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4" name="Oval 3"/>
          <p:cNvSpPr/>
          <p:nvPr/>
        </p:nvSpPr>
        <p:spPr>
          <a:xfrm>
            <a:off x="5303520" y="274320"/>
            <a:ext cx="731520" cy="731520"/>
          </a:xfrm>
          <a:prstGeom prst="ellipse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D3748"/>
                </a:solidFill>
              </a:defRPr>
            </a:pPr>
            <a:r>
              <a:t>Git e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23232"/>
                </a:solidFill>
              </a:defRPr>
            </a:pPr>
            <a:r>
              <a:t>Versionamento de Software</a:t>
            </a:r>
            <a:br/>
            <a:r>
              <a:t>do Básico ao Avançado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📘 1. Introdução ao Versionamento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🐙 2. Git - Fundamentos e Comandos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💻 3. GitHub - Colaboração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🚀 4. Tópicos Avançados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📝 5. Exercícios Práticos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D7E14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Introdução ao</a:t>
            </a:r>
            <a:br/>
            <a:r>
              <a:t>Versionamento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 que é Versionamento?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Processo de rastrear e gerenciar alterações em um projeto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📋 Permite: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Documentar todas as mudanças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Reverter para versões anteriores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Trabalhar em equipe sem conflitos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Manter backup completo do projeto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💡 Essencial para qualquer desenvolvedor!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Sem vs Com Versionamento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❌ arquivo_final.zip</a:t>
            </a:r>
            <a:br/>
            <a:r>
              <a:t>   arquivo_final_v2.zip</a:t>
            </a:r>
            <a:br/>
            <a:r>
              <a:t>   arquivo_final_agora_vai.zip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303520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✅ Histórico completo</a:t>
            </a:r>
            <a:br/>
            <a:r>
              <a:t>   Cada mudança documentada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5303520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❌ Sem saber quem mudou</a:t>
            </a:r>
            <a:br/>
            <a:r>
              <a:t>   Sem saber quando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651760"/>
            <a:ext cx="5303520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✅ Quem, quando e porquê</a:t>
            </a:r>
            <a:br/>
            <a:r>
              <a:t>   de cada alteração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5303520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❌ Trabalho em série</a:t>
            </a:r>
            <a:br/>
            <a:r>
              <a:t>   Um por vez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931920"/>
            <a:ext cx="5303520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✅ Trabalho em paralelo</a:t>
            </a:r>
            <a:br/>
            <a:r>
              <a:t>   Múltiplas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Tipos de 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D7E14"/>
                </a:solidFill>
              </a:defRPr>
            </a:pPr>
            <a:r>
              <a:t>📡 Centralizado (CVCS)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Servidor único central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Clientes se conectam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Exemplos: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SVN, CVS, Perforce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⚠️ Desvantagens: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Ponto único de falha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Requer conexão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D7E14"/>
                </a:solidFill>
              </a:defRPr>
            </a:pPr>
            <a:r>
              <a:t>🔗 Distribuído (DVCS)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Cada clone é backup completo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Trabalhe offline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Exemplos: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Git, Mercurial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✅ Vantagens: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Resiliência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Performance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Flexibilidade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45720" cy="50292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D7E14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Git -</a:t>
            </a:r>
            <a:br/>
            <a:r>
              <a:t>Fundamentos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 que é Git?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🎯 Sistema de Controle de Versão Distribuído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👨‍💻 Criado por Linus Torvalds (2005)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⭐ Características: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Gratuito e Open Source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Rápido e eficiente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Seguro (SHA-1 hashing)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Usado mundialmente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+100 milhões de usuários!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Ciclo de Vida dos Arquivos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600">
                <a:solidFill>
                  <a:srgbClr val="323232"/>
                </a:solidFill>
                <a:latin typeface="Courier New"/>
              </a:defRPr>
            </a:pPr>
            <a:r>
              <a:t>    ┌─────────────────┐     git add    ┌─────────────────┐</a:t>
            </a:r>
            <a:br/>
            <a:r>
              <a:t>    │   Untracked     │ ─────────────→ │    Staged       │</a:t>
            </a:r>
            <a:br/>
            <a:r>
              <a:t>    │  (Não rastreado)│                │   (Preparado)   │</a:t>
            </a:r>
            <a:br/>
            <a:r>
              <a:t>    └─────────────────┘                └────────┬────────┘</a:t>
            </a:r>
            <a:br/>
            <a:r>
              <a:t>                                                │ git commit</a:t>
            </a:r>
            <a:br/>
            <a:r>
              <a:t>                                                ▼</a:t>
            </a:r>
            <a:br/>
            <a:r>
              <a:t>    ┌─────────────────┐                ┌─────────────────┐</a:t>
            </a:r>
            <a:br/>
            <a:r>
              <a:t>    │    Committed    │ ←───────────── │   Modified      │</a:t>
            </a:r>
            <a:br/>
            <a:r>
              <a:t>    │    (Salvo)      │  git checkout  │  (Modificado)   │</a:t>
            </a:r>
            <a:br/>
            <a:r>
              <a:t>    └─────────────────┘                └─────────────────┘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Instalação do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🪟 Windows: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Baixe em git-scm.com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Execute o instalador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🍎 macOS: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brew install git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ou xcode-select --install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🐧 Linux: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sudo apt install git</a:t>
            </a:r>
          </a:p>
          <a:p/>
          <a:p>
            <a:pPr>
              <a:spcAft>
                <a:spcPts val="800"/>
              </a:spcAft>
              <a:defRPr sz="2000" b="1">
                <a:solidFill>
                  <a:srgbClr val="323232"/>
                </a:solidFill>
              </a:defRPr>
            </a:pPr>
            <a:r>
              <a:t>✅ Verificar: git --version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Configuração Inicial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200400"/>
          </a:xfrm>
          <a:prstGeom prst="rect">
            <a:avLst/>
          </a:prstGeom>
          <a:solidFill>
            <a:srgbClr val="1E1E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96C896"/>
                </a:solidFill>
                <a:latin typeface="Courier New"/>
              </a:defRPr>
            </a:pPr>
            <a:r>
              <a:t># Configurar nome e e-mail</a:t>
            </a:r>
            <a:br/>
            <a:r>
              <a:t>git config --global user.name "Seu Nome"</a:t>
            </a:r>
            <a:br/>
            <a:r>
              <a:t>git config --global user.email "seu@email.com"</a:t>
            </a:r>
            <a:br/>
            <a:br/>
            <a:r>
              <a:t># Configurar editor</a:t>
            </a:r>
            <a:br/>
            <a:r>
              <a:t>git config --global core.editor "code --wait"</a:t>
            </a:r>
            <a:br/>
            <a:br/>
            <a:r>
              <a:t># Verificar configurações</a:t>
            </a:r>
            <a:br/>
            <a:r>
              <a:t>git config --list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⚠️ Configure antes de começar! Use o mesmo e-mail do GitHub.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Comandos Básicos -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🚀 INICIAR: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init                    # Novo repositório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clone &lt;url&gt;             # Copiar repositório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STATUS E LOG: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status                  # Ver estado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log                     # Histórico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log --oneline           # Resumido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📁 ADICIONAR: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add &lt;arquivo&gt;           # Específico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add .                   # Todos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Comandos Básicos - 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💾 COMMITS: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commit -m "mensagem"    # Criar commit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commit -am "msg"        # Add + commit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🌐 REMOTO: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remote add origin &lt;url&gt;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push origin main          # Enviar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pull origin main          # Atualizar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🌿 BRANCHES: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branch                    # Listar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checkout -b &lt;nome&gt;        # Criar e mudar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merge &lt;branch&gt;            # Mesclar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Exemplo: Primeiro Repositório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3200400"/>
          </a:xfrm>
          <a:prstGeom prst="rect">
            <a:avLst/>
          </a:prstGeom>
          <a:solidFill>
            <a:srgbClr val="1E1E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96C896"/>
                </a:solidFill>
                <a:latin typeface="Courier New"/>
              </a:defRPr>
            </a:pPr>
            <a:r>
              <a:t># 1. Criar e inicializar</a:t>
            </a:r>
            <a:br/>
            <a:r>
              <a:t>mkdir meu-projeto &amp;&amp; cd meu-projeto</a:t>
            </a:r>
            <a:br/>
            <a:r>
              <a:t>git init</a:t>
            </a:r>
            <a:br/>
            <a:br/>
            <a:r>
              <a:t># 2. Criar README</a:t>
            </a:r>
            <a:br/>
            <a:r>
              <a:t>echo "# Meu Projeto" &gt; README.md</a:t>
            </a:r>
            <a:br/>
            <a:r>
              <a:t>git add README.md</a:t>
            </a:r>
            <a:br/>
            <a:r>
              <a:t>git commit -m "feat: adiciona README"</a:t>
            </a:r>
            <a:br/>
            <a:br/>
            <a:r>
              <a:t># 3. Conectar com GitHub</a:t>
            </a:r>
            <a:br/>
            <a:r>
              <a:t>git remote add origin https://github.com/user/repo.git</a:t>
            </a:r>
            <a:br/>
            <a:r>
              <a:t>git push -u origin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🎯 Fluxo completo do zero até o GitHub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Mensagens de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D7E14"/>
                </a:solidFill>
              </a:defRPr>
            </a:pPr>
            <a:r>
              <a:t>❌ Ruim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"arrumei"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"teste"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"fix"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"update"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"mudanças"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Problemas: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Não diz o quê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Não diz porquê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Difícil de rastrear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D7E14"/>
                </a:solidFill>
              </a:defRPr>
            </a:pPr>
            <a:r>
              <a:t>✅ Bom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"Corrige cálculo de imposto"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"Adiciona validação de CPF"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"Remove dependência obsoleta"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Benefícios: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Claro e objetivo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Fácil de entender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Histórico útil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45720" cy="50292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D7E14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 que é GitHub?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🏠 Plataforma de hospedagem de repositórios Git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🎯 Funcionalidades: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Repositórios públicos e privados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Pull Requests para code review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Issues para gerenciamento de tarefas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GitHub Actions (CI/CD)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GitHub Pages (sites estáticos)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+100 milhões de desenvolvedores!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🏢 Pertence à Microsoft desde 2018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Autenticação no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🔑 SSH (Recomendado):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ssh-keygen -t ed25519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# Copie ~/.ssh/id_ed25519.pub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# Adicione no GitHub: Settings → SSH keys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clone git@github.com:user/repo.git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🎫 Personal Access Token: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Settings → Developer settings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Generate new token (classic)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Marque permissão 'repo'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Use token no lugar da senha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⚠️ Senha NÃO funciona mais para Git!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Pull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🔄 FLUXO DO PULL REQUEST: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1. git checkout -b feature/nova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2. Faça alterações e commit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3. git push origin feature/nova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4. Abra Pull Request no GitHub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5. Aguarde code review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6. Corrija se necessário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7. Merge após aprovação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💡 PR permite colaboração segura e revisão de código!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Tipos de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83180" cy="1828800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🐛 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6140" y="1645920"/>
            <a:ext cx="2583180" cy="1828800"/>
          </a:xfrm>
          <a:prstGeom prst="roundRect">
            <a:avLst/>
          </a:prstGeom>
          <a:solidFill>
            <a:srgbClr val="FD7E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✨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2583180" cy="1828800"/>
          </a:xfrm>
          <a:prstGeom prst="roundRect">
            <a:avLst/>
          </a:prstGeom>
          <a:solidFill>
            <a:srgbClr val="007B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📚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1140" y="1645920"/>
            <a:ext cx="2583180" cy="1828800"/>
          </a:xfrm>
          <a:prstGeom prst="round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🟢 Good First Issue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Issues -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📋 Criando uma Issue:</a:t>
            </a:r>
          </a:p>
          <a:p/>
          <a:p>
            <a:pPr>
              <a:spcAft>
                <a:spcPts val="800"/>
              </a:spcAft>
              <a:defRPr sz="2000" b="1">
                <a:solidFill>
                  <a:srgbClr val="323232"/>
                </a:solidFill>
              </a:defRPr>
            </a:pPr>
            <a:r>
              <a:t>✅ Título descritivo</a:t>
            </a:r>
          </a:p>
          <a:p>
            <a:pPr>
              <a:spcAft>
                <a:spcPts val="800"/>
              </a:spcAft>
              <a:defRPr sz="2000" b="1">
                <a:solidFill>
                  <a:srgbClr val="323232"/>
                </a:solidFill>
              </a:defRPr>
            </a:pPr>
            <a:r>
              <a:t>✅ Descrição detalhada</a:t>
            </a:r>
          </a:p>
          <a:p>
            <a:pPr>
              <a:spcAft>
                <a:spcPts val="800"/>
              </a:spcAft>
              <a:defRPr sz="2000" b="1">
                <a:solidFill>
                  <a:srgbClr val="323232"/>
                </a:solidFill>
              </a:defRPr>
            </a:pPr>
            <a:r>
              <a:t>✅ Passos para reproduzir (bug)</a:t>
            </a:r>
          </a:p>
          <a:p>
            <a:pPr>
              <a:spcAft>
                <a:spcPts val="800"/>
              </a:spcAft>
              <a:defRPr sz="2000" b="1">
                <a:solidFill>
                  <a:srgbClr val="323232"/>
                </a:solidFill>
              </a:defRPr>
            </a:pPr>
            <a:r>
              <a:t>✅ Comportamento esperado</a:t>
            </a:r>
          </a:p>
          <a:p>
            <a:pPr>
              <a:spcAft>
                <a:spcPts val="800"/>
              </a:spcAft>
              <a:defRPr sz="2000" b="1">
                <a:solidFill>
                  <a:srgbClr val="323232"/>
                </a:solidFill>
              </a:defRPr>
            </a:pPr>
            <a:r>
              <a:t>✅ Screenshots quando útil</a:t>
            </a:r>
          </a:p>
          <a:p>
            <a:pPr>
              <a:spcAft>
                <a:spcPts val="800"/>
              </a:spcAft>
              <a:defRPr sz="2000" b="1">
                <a:solidFill>
                  <a:srgbClr val="323232"/>
                </a:solidFill>
              </a:defRPr>
            </a:pPr>
            <a:r>
              <a:t>✅ Labels apropriadas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🏷️ Labels comuns: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bug • enhancement • documentation • good first issue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D7E14"/>
                </a:solidFill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Tópicos</a:t>
            </a:r>
            <a:br/>
            <a:r>
              <a:t>Avançados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Branches - Ramificações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🌿 Convenção de nomes: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feature/login           → Nova funcionalidade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bugfix/erro-calculo     → Correção de bug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hotfix/seguranca        → Correção urgente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docs/readme             → Documentação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refactor/modulo-x       → Refatoração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Comandos: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branch -a           # Lista todas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checkout -b &lt;nome&gt;  # Cria e muda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merge &lt;branch&gt;      # Mescla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branch -d &lt;nome&gt;    # Deleta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Merge vs Rebase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D7E14"/>
                </a:solidFill>
              </a:defRPr>
            </a:pPr>
            <a:r>
              <a:t>🔀 Merge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Preserva histórico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Cria commit de merge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Mais seguro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git merge feature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✅ Use em: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Branches públicas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Pull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D7E14"/>
                </a:solidFill>
              </a:defRPr>
            </a:pPr>
            <a:r>
              <a:t>🔁 Rebase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Reescreve histórico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Histórico linear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Mais limpo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git rebase main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⚠️ Use apenas em: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Branches locais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• Antes de PR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🚫 NUNCA em branches públicas!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45720" cy="50292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Stash - Alterações Temporárias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💼 Guarda alterações temporariamente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Comandos: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stash                    # Guarda mudanças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stash save "msg"         # Com mensagem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stash list               # Lista stashes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stash pop                # Restaura e remove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stash apply              # Restaura (mantém)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stash drop               # Remove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🎯 Cenário: Mudar de branch sem commitar!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Você está trabalhando e precisa mudar urgentemente...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Tags - Versionamento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🏷️ Marca versões específicas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📐 Versionamento Semântico (SemVer):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MAIOR.MENOR.CORREÇÃO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1.0.0  → Lançamento inicial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1.0.1  → Correção de bug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1.1.0  → Nova funcionalidade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2.0.0  → Mudança incompatível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Comandos: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tag -a v1.0.0 -m "msg"   # Cria tag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push origin --tags         # Envia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Desfazendo Alterações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D7E14"/>
                </a:solidFill>
              </a:defRPr>
            </a:pPr>
            <a:r>
              <a:t>↩️ Git Reset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Move HEAD, desfaz commits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git reset --soft HEAD~1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→ Mantém alterações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git reset --hard HEAD~1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→ Descarta tudo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⚠️ Apenas local!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🚫 Não use em branches públicas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D7E14"/>
                </a:solidFill>
              </a:defRPr>
            </a:pPr>
            <a:r>
              <a:t>🔄 Git Revert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Cria commit que desfaz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git revert HEAD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→ Reverte último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git revert abc123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  → Reverte específico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✅ Seguro para remoto!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✅ Preserva histórico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45720" cy="50292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Reflog - Recuperação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🛡️ Seu seguro contra acidentes!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📋 Registra todos os movimentos do HEAD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Comandos: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reflog                 # Ver histórico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git reset --hard HEAD@{5}  # Volta estado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🚨 Recuperar branch deletada: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1. git reflog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2. Ache o commit perdido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3. git checkout -b nova-branch &lt;hash&gt;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💡 Nada se perde com reflog!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Tipos de Commit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358537" cy="1828800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1497" y="1645920"/>
            <a:ext cx="1358537" cy="1828800"/>
          </a:xfrm>
          <a:prstGeom prst="roundRect">
            <a:avLst/>
          </a:prstGeom>
          <a:solidFill>
            <a:srgbClr val="FD7E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4354" y="1645920"/>
            <a:ext cx="1358537" cy="1828800"/>
          </a:xfrm>
          <a:prstGeom prst="roundRect">
            <a:avLst/>
          </a:prstGeom>
          <a:solidFill>
            <a:srgbClr val="007B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7211" y="1645920"/>
            <a:ext cx="1358537" cy="1828800"/>
          </a:xfrm>
          <a:prstGeom prst="round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style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0068" y="1645920"/>
            <a:ext cx="1358537" cy="1828800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refactor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12925" y="1645920"/>
            <a:ext cx="1358537" cy="1828800"/>
          </a:xfrm>
          <a:prstGeom prst="roundRect">
            <a:avLst/>
          </a:prstGeom>
          <a:solidFill>
            <a:srgbClr val="FD7E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45782" y="1645920"/>
            <a:ext cx="1358537" cy="1828800"/>
          </a:xfrm>
          <a:prstGeom prst="roundRect">
            <a:avLst/>
          </a:prstGeom>
          <a:solidFill>
            <a:srgbClr val="007B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Exemplos de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feat(auth): adiciona login com Google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fix(payment): corrige cálculo de imposto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docs(readme): atualiza instruções de instalação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refactor(api): simplifica função de validação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test(user): adiciona testes unitários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chore(deps): atualiza dependências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Fluxo de Trabalho Recomendado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1️⃣ git checkout main &amp;&amp; git pull origin main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2️⃣ git checkout -b feature/nova-funcionalidade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3️⃣ Trabalhe e faça commits atômicos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4️⃣ git rebase main (opcional, limpa histórico)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5️⃣ git push -u origin feature/nova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6️⃣ Crie Pull Request no GitHub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7️⃣ Após review: merge na main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029200"/>
            <a:ext cx="1828800" cy="1828800"/>
          </a:xfrm>
          <a:prstGeom prst="ellipse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D7E14"/>
                </a:solidFill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Exercícios</a:t>
            </a:r>
            <a:br/>
            <a:r>
              <a:t>Práticos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Exercícios Práticos (1-8)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1️⃣ Configurar Git (nome, e-mail)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2️⃣ Criar primeiro repositório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3️⃣ Trabalhar com branches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4️⃣ Simular e resolver conflitos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5️⃣ Usar stash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6️⃣ Criar tags de versão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7️⃣ Pull Request no GitHub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8️⃣ Fork e contribuição open source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Exercícios Práticos (9-10)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9️⃣ Recuperar com reflog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🔟 Desafio final integrador: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• Criar sistema de cadastro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• Múltiplas features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• Hotfix urgente</a:t>
            </a:r>
          </a:p>
          <a:p>
            <a:pPr lvl="1"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 • Lançar versão estável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📚 Veja exercicio.md para detalhes completos!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💡 Pratique todos os exercícios!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Recursos Adicionais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📖 Documentação: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git-scm.com/doc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docs.github.com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🎮 Prática Online: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learngitbranching.js.org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ohmygit.org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🛠️ Ferramentas: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GitKraken, Sourcetree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GitLens (VS Code)</a:t>
            </a:r>
          </a:p>
          <a:p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📋 Referência: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→ Conventional Commits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Conceitos Chave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011680" cy="1828800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Versionamento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645920"/>
            <a:ext cx="2011680" cy="1828800"/>
          </a:xfrm>
          <a:prstGeom prst="roundRect">
            <a:avLst/>
          </a:prstGeom>
          <a:solidFill>
            <a:srgbClr val="FD7E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1828800"/>
          </a:xfrm>
          <a:prstGeom prst="roundRect">
            <a:avLst/>
          </a:prstGeom>
          <a:solidFill>
            <a:srgbClr val="007B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45920"/>
            <a:ext cx="2011680" cy="1828800"/>
          </a:xfrm>
          <a:prstGeom prst="round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645920"/>
            <a:ext cx="2011680" cy="1828800"/>
          </a:xfrm>
          <a:prstGeom prst="roundRect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Pull Request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4" name="Oval 3"/>
          <p:cNvSpPr/>
          <p:nvPr/>
        </p:nvSpPr>
        <p:spPr>
          <a:xfrm>
            <a:off x="5303520" y="274320"/>
            <a:ext cx="731520" cy="731520"/>
          </a:xfrm>
          <a:prstGeom prst="ellipse">
            <a:avLst/>
          </a:prstGeom>
          <a:solidFill>
            <a:srgbClr val="28A7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D3748"/>
                </a:solidFill>
              </a:defRPr>
            </a:pPr>
            <a: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23232"/>
                </a:solidFill>
              </a:defRPr>
            </a:pPr>
            <a:r>
              <a:t>Dúvidas?</a:t>
            </a:r>
            <a:br/>
            <a:br/>
            <a:r>
              <a:t>🚀 Bons estudos e bom código!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📁 Material completo: menu.md, exercicio.md</a:t>
            </a:r>
            <a:br/>
            <a:r>
              <a:t>💻 Pratique: git clone https://github.com/alexdonay/apostilagit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